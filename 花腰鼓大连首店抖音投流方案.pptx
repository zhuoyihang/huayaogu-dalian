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0040"/>
            <a:ext cx="36576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8866"/>
                </a:solidFill>
                <a:latin typeface="Microsoft YaHei"/>
              </a:rPr>
              <a:t>成都弯道超车传媒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2286000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Microsoft YaHei"/>
              </a:rPr>
              <a:t>FANHUA SERIES · 繁花系列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DF6EC"/>
                </a:solidFill>
                <a:latin typeface="Microsoft YaHei"/>
              </a:rPr>
              <a:t>花腰鼓·云南小炒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8C97A"/>
                </a:solidFill>
                <a:latin typeface="Microsoft YaHei"/>
              </a:rPr>
              <a:t>大连首店  ·  抖音带货 + 投流方案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926080"/>
            <a:ext cx="4873752" cy="127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108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8866"/>
                </a:solidFill>
                <a:latin typeface="Microsoft YaHei"/>
              </a:rPr>
              <a:t>总预算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017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9A84C"/>
                </a:solidFill>
                <a:latin typeface="Microsoft YaHei"/>
              </a:rPr>
              <a:t>¥50,000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108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8866"/>
                </a:solidFill>
                <a:latin typeface="Microsoft YaHei"/>
              </a:rPr>
              <a:t>专项抖音带货 + 投流方案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2011680" cy="292608"/>
          </a:xfrm>
          <a:prstGeom prst="rect">
            <a:avLst/>
          </a:prstGeom>
          <a:solidFill>
            <a:srgbClr val="2A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C97A"/>
                </a:solidFill>
                <a:latin typeface="Microsoft YaHei"/>
              </a:rPr>
              <a:t>万象汇店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3657600"/>
            <a:ext cx="2011680" cy="292608"/>
          </a:xfrm>
          <a:prstGeom prst="rect">
            <a:avLst/>
          </a:prstGeom>
          <a:solidFill>
            <a:srgbClr val="2A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1760" y="365760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C97A"/>
                </a:solidFill>
                <a:latin typeface="Microsoft YaHei"/>
              </a:rPr>
              <a:t>大连首店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3657600"/>
            <a:ext cx="2011680" cy="292608"/>
          </a:xfrm>
          <a:prstGeom prst="rect">
            <a:avLst/>
          </a:prstGeom>
          <a:solidFill>
            <a:srgbClr val="2A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C97A"/>
                </a:solidFill>
                <a:latin typeface="Microsoft YaHei"/>
              </a:rPr>
              <a:t>繁花系列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3657600"/>
            <a:ext cx="2011680" cy="292608"/>
          </a:xfrm>
          <a:prstGeom prst="rect">
            <a:avLst/>
          </a:prstGeom>
          <a:solidFill>
            <a:srgbClr val="2A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365760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C97A"/>
                </a:solidFill>
                <a:latin typeface="Microsoft YaHei"/>
              </a:rPr>
              <a:t>云南小炒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3657600"/>
            <a:ext cx="2011680" cy="292608"/>
          </a:xfrm>
          <a:prstGeom prst="rect">
            <a:avLst/>
          </a:prstGeom>
          <a:solidFill>
            <a:srgbClr val="2A1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365760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C97A"/>
                </a:solidFill>
                <a:latin typeface="Microsoft YaHei"/>
              </a:rPr>
              <a:t>漂亮饭·小资餐厅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8866"/>
                </a:solidFill>
                <a:latin typeface="Microsoft YaHei"/>
              </a:rPr>
              <a:t>📍 大连市中华路街道山东路350号  华南万象汇L4层42号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0" y="653796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A8866"/>
                </a:solidFill>
                <a:latin typeface="Microsoft YaHei"/>
              </a:rPr>
              <a:t>成都弯道超车传媒有限公司  |  仅供受邀方阅览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8866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0" y="457200"/>
            <a:ext cx="731520" cy="127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DF6EC"/>
                </a:solidFill>
                <a:latin typeface="Microsoft YaHei"/>
              </a:rPr>
              <a:t>品牌定位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8866"/>
                </a:solidFill>
                <a:latin typeface="Microsoft YaHei"/>
              </a:rPr>
              <a:t>BRAND POSITIONING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3566160" cy="137160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35661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0972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Microsoft YaHei"/>
              </a:rPr>
              <a:t>「从云南到云南」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  <a:latin typeface="Microsoft YaHei"/>
              </a:rPr>
              <a:t>正宗溯源，品牌美学背书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288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8866"/>
                </a:solidFill>
                <a:latin typeface="Microsoft YaHei"/>
              </a:rPr>
              <a:t>漂亮饭·小资餐厅·繁花美学首店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005840"/>
            <a:ext cx="3566160" cy="137160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005840"/>
            <a:ext cx="3566160" cy="25400"/>
          </a:xfrm>
          <a:prstGeom prst="rect">
            <a:avLst/>
          </a:prstGeom>
          <a:solidFill>
            <a:srgbClr val="E8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0972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C97A"/>
                </a:solidFill>
                <a:latin typeface="Microsoft YaHei"/>
              </a:rPr>
              <a:t>「好看，好吃，有氛围」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5087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  <a:latin typeface="Microsoft YaHei"/>
              </a:rPr>
              <a:t>高颜值菜品 + 沉浸式环境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8288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8866"/>
                </a:solidFill>
                <a:latin typeface="Microsoft YaHei"/>
              </a:rPr>
              <a:t>年轻女性·小资人群·拍照打卡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005840"/>
            <a:ext cx="3566160" cy="137160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005840"/>
            <a:ext cx="3566160" cy="25400"/>
          </a:xfrm>
          <a:prstGeom prst="rect">
            <a:avLst/>
          </a:prstGeom>
          <a:solidFill>
            <a:srgbClr val="FD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0972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DF6EC"/>
                </a:solidFill>
                <a:latin typeface="Microsoft YaHei"/>
              </a:rPr>
              <a:t>「云剪 + KOL 批量造势」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5087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DF6EC"/>
                </a:solidFill>
                <a:latin typeface="Microsoft YaHei"/>
              </a:rPr>
              <a:t>线上内容种草，线下开业转化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18288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8866"/>
                </a:solidFill>
                <a:latin typeface="Microsoft YaHei"/>
              </a:rPr>
              <a:t>开业期声量最大化，快速出圈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06040"/>
            <a:ext cx="11274552" cy="127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Microsoft YaHei"/>
              </a:rPr>
              <a:t>核心策略：以繁花系列为大连首店打造差异化的云南菜品牌认知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01568"/>
            <a:ext cx="164592" cy="1645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2918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DF6EC"/>
                </a:solidFill>
                <a:latin typeface="Microsoft YaHei"/>
              </a:rPr>
              <a:t>差异化定位：云南菜 × 繁花美学 × 小资氛围，区别于传统云南餐厅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858768"/>
            <a:ext cx="164592" cy="1645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7490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DF6EC"/>
                </a:solidFill>
                <a:latin typeface="Microsoft YaHei"/>
              </a:rPr>
              <a:t>颜值正义：高颜值菜品摆盘，让每一道菜都"值得被拍"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315968"/>
            <a:ext cx="164592" cy="1645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2062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DF6EC"/>
                </a:solidFill>
                <a:latin typeface="Microsoft YaHei"/>
              </a:rPr>
              <a:t>场景种草：KOL云剪 × 探店达人，制造"好看""想打卡"的用户认知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773168"/>
            <a:ext cx="164592" cy="1645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6634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DF6EC"/>
                </a:solidFill>
                <a:latin typeface="Microsoft YaHei"/>
              </a:rPr>
              <a:t>开业即爆：批量内容预埋 + DOU+精准投流，开业期声量最大化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8866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0" y="457200"/>
            <a:ext cx="731520" cy="127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DF6EC"/>
                </a:solidFill>
                <a:latin typeface="Microsoft YaHei"/>
              </a:rPr>
              <a:t>繁花美学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8866"/>
                </a:solidFill>
                <a:latin typeface="Microsoft YaHei"/>
              </a:rPr>
              <a:t>FANHUA AESTHETICS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14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色彩体系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1371600" cy="502920"/>
          </a:xfrm>
          <a:prstGeom prst="rect">
            <a:avLst/>
          </a:prstGeom>
          <a:solidFill>
            <a:srgbClr val="C8102E"/>
          </a:solidFill>
          <a:ln w="6350">
            <a:solidFill>
              <a:srgbClr val="F038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013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DF6EC"/>
                </a:solidFill>
                <a:latin typeface="Microsoft YaHei"/>
              </a:rPr>
              <a:t>繁花红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A8866"/>
                </a:solidFill>
                <a:latin typeface="Microsoft YaHei"/>
              </a:rPr>
              <a:t>热烈开场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1280160"/>
            <a:ext cx="1371600" cy="502920"/>
          </a:xfrm>
          <a:prstGeom prst="rect">
            <a:avLst/>
          </a:prstGeom>
          <a:solidFill>
            <a:srgbClr val="8B3A3A"/>
          </a:solidFill>
          <a:ln w="6350">
            <a:solidFill>
              <a:srgbClr val="B362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18013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DF6EC"/>
                </a:solidFill>
                <a:latin typeface="Microsoft YaHei"/>
              </a:rPr>
              <a:t>暮云深红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0116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A8866"/>
                </a:solidFill>
                <a:latin typeface="Microsoft YaHei"/>
              </a:rPr>
              <a:t>时光沉淀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1280160"/>
            <a:ext cx="1371600" cy="502920"/>
          </a:xfrm>
          <a:prstGeom prst="rect">
            <a:avLst/>
          </a:prstGeom>
          <a:solidFill>
            <a:srgbClr val="C9A84C"/>
          </a:solidFill>
          <a:ln w="6350">
            <a:solidFill>
              <a:srgbClr val="F1D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0" y="18013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DF6EC"/>
                </a:solidFill>
                <a:latin typeface="Microsoft YaHei"/>
              </a:rPr>
              <a:t>山茶金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20116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A8866"/>
                </a:solidFill>
                <a:latin typeface="Microsoft YaHei"/>
              </a:rPr>
              <a:t>点睛高光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1280160"/>
            <a:ext cx="1371600" cy="502920"/>
          </a:xfrm>
          <a:prstGeom prst="rect">
            <a:avLst/>
          </a:prstGeom>
          <a:solidFill>
            <a:srgbClr val="E8C97A"/>
          </a:solidFill>
          <a:ln w="6350">
            <a:solidFill>
              <a:srgbClr val="FFF1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18013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DF6EC"/>
                </a:solidFill>
                <a:latin typeface="Microsoft YaHei"/>
              </a:rPr>
              <a:t>滇金浅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0116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A8866"/>
                </a:solidFill>
                <a:latin typeface="Microsoft YaHei"/>
              </a:rPr>
              <a:t>柔美过渡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1280160"/>
            <a:ext cx="1371600" cy="502920"/>
          </a:xfrm>
          <a:prstGeom prst="rect">
            <a:avLst/>
          </a:prstGeom>
          <a:solidFill>
            <a:srgbClr val="2D4A2D"/>
          </a:solidFill>
          <a:ln w="6350">
            <a:solidFill>
              <a:srgbClr val="5572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013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DF6EC"/>
                </a:solidFill>
                <a:latin typeface="Microsoft YaHei"/>
              </a:rPr>
              <a:t>竹林墨绿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0116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A8866"/>
                </a:solidFill>
                <a:latin typeface="Microsoft YaHei"/>
              </a:rPr>
              <a:t>自然呼吸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1280160"/>
            <a:ext cx="1371600" cy="502920"/>
          </a:xfrm>
          <a:prstGeom prst="rect">
            <a:avLst/>
          </a:prstGeom>
          <a:solidFill>
            <a:srgbClr val="1A0A00"/>
          </a:solidFill>
          <a:ln w="6350">
            <a:solidFill>
              <a:srgbClr val="423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18013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DF6EC"/>
                </a:solidFill>
                <a:latin typeface="Microsoft YaHei"/>
              </a:rPr>
              <a:t>乌木深黑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0116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A8866"/>
                </a:solidFill>
                <a:latin typeface="Microsoft YaHei"/>
              </a:rPr>
              <a:t>沉稳底蕴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1280160"/>
            <a:ext cx="1371600" cy="502920"/>
          </a:xfrm>
          <a:prstGeom prst="rect">
            <a:avLst/>
          </a:prstGeom>
          <a:solidFill>
            <a:srgbClr val="F5E6C8"/>
          </a:solidFill>
          <a:ln w="6350">
            <a:solidFill>
              <a:srgbClr val="FFF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0" y="18013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DF6EC"/>
                </a:solidFill>
                <a:latin typeface="Microsoft YaHei"/>
              </a:rPr>
              <a:t>宣纸米白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20116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A8866"/>
                </a:solidFill>
                <a:latin typeface="Microsoft YaHei"/>
              </a:rPr>
              <a:t>温暖底色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377440"/>
            <a:ext cx="12188952" cy="63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560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设计三大支柱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926080"/>
            <a:ext cx="3566160" cy="100584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2926080"/>
            <a:ext cx="457200" cy="10058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2926080"/>
            <a:ext cx="457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Microsoft YaHei"/>
              </a:rPr>
              <a:t>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Microsoft YaHei"/>
              </a:rPr>
              <a:t>视觉语言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3375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繁花色系 · 高颜值摆盘 · 每一道菜都是视觉作品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97680" y="2926080"/>
            <a:ext cx="3566160" cy="100584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97680" y="2926080"/>
            <a:ext cx="457200" cy="10058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0" y="2926080"/>
            <a:ext cx="457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Microsoft YaHei"/>
              </a:rPr>
              <a:t>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Microsoft YaHei"/>
              </a:rPr>
              <a:t>空间氛围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46320" y="33375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暖光影调 · 氛围感打光 · 营造沉浸式用餐体验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38160" y="2926080"/>
            <a:ext cx="3566160" cy="100584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0" y="2926080"/>
            <a:ext cx="457200" cy="10058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0" y="2926080"/>
            <a:ext cx="457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Microsoft YaHei"/>
              </a:rPr>
              <a:t>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Microsoft YaHei"/>
              </a:rPr>
              <a:t>材质美学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3375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精致器皿 · 材质对比 · 提升整体品质感知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160520"/>
            <a:ext cx="12188952" cy="63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4297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内容调性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663440"/>
            <a:ext cx="2651760" cy="2926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46634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icrosoft YaHei"/>
              </a:rPr>
              <a:t>视觉关键词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497433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497433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好看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29437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529437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高颜值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61441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61441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精致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593445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93445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氛围感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08960" y="4663440"/>
            <a:ext cx="2651760" cy="2926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0" y="46634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icrosoft YaHei"/>
              </a:rPr>
              <a:t>场景关键词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08960" y="497433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60" y="497433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约会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08960" y="529437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08960" y="529437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聚会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08960" y="561441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08960" y="561441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打卡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08960" y="593445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08960" y="593445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探店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760720" y="4663440"/>
            <a:ext cx="2651760" cy="2926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760720" y="46634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icrosoft YaHei"/>
              </a:rPr>
              <a:t>内容节奏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760720" y="497433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760720" y="497433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卡点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760720" y="529437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60720" y="529437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慢镜头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60720" y="561441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760720" y="561441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全景特写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760720" y="593445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760720" y="593445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分时段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12480" y="4663440"/>
            <a:ext cx="2651760" cy="2926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12480" y="46634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icrosoft YaHei"/>
              </a:rPr>
              <a:t>达人选号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12480" y="497433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412480" y="497433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高颜值女达人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412480" y="529437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0" y="529437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生活类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561441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12480" y="561441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探店类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12480" y="5934456"/>
            <a:ext cx="2651760" cy="301752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412480" y="5934456"/>
            <a:ext cx="2651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DF6EC"/>
                </a:solidFill>
                <a:latin typeface="Microsoft YaHei"/>
              </a:rPr>
              <a:t>50万粉以内</a:t>
            </a:r>
          </a:p>
        </p:txBody>
      </p:sp>
      <p:sp>
        <p:nvSpPr>
          <p:cNvPr id="89" name="Rectangle 88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8866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0" y="457200"/>
            <a:ext cx="731520" cy="127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DF6EC"/>
                </a:solidFill>
                <a:latin typeface="Microsoft YaHei"/>
              </a:rPr>
              <a:t>KPI 数据目标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8866"/>
                </a:solidFill>
                <a:latin typeface="Microsoft YaHei"/>
              </a:rPr>
              <a:t>KEY PERFORMANCE INDICATORS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3566160" cy="228600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60120"/>
            <a:ext cx="35661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4C"/>
                </a:solidFill>
                <a:latin typeface="Microsoft YaHei"/>
              </a:rPr>
              <a:t>300万+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659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DF6EC"/>
                </a:solidFill>
                <a:latin typeface="Microsoft YaHei"/>
              </a:rPr>
              <a:t>精准曝光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8866"/>
                </a:solidFill>
                <a:latin typeface="Microsoft YaHei"/>
              </a:rPr>
              <a:t>DOU+投流目标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54480" y="2788920"/>
            <a:ext cx="1371600" cy="256032"/>
          </a:xfrm>
          <a:prstGeom prst="rect">
            <a:avLst/>
          </a:prstGeom>
          <a:solidFill>
            <a:srgbClr val="40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27889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C97A"/>
                </a:solidFill>
                <a:latin typeface="Microsoft YaHei"/>
              </a:rPr>
              <a:t>抖音投流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960120"/>
            <a:ext cx="3566160" cy="228600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960120"/>
            <a:ext cx="35661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11430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4C"/>
                </a:solidFill>
                <a:latin typeface="Microsoft YaHei"/>
              </a:rPr>
              <a:t>60条+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9659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DF6EC"/>
                </a:solidFill>
                <a:latin typeface="Microsoft YaHei"/>
              </a:rPr>
              <a:t>高质量内容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377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8866"/>
                </a:solidFill>
                <a:latin typeface="Microsoft YaHei"/>
              </a:rPr>
              <a:t>云剪+本地达人内容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2788920"/>
            <a:ext cx="1371600" cy="256032"/>
          </a:xfrm>
          <a:prstGeom prst="rect">
            <a:avLst/>
          </a:prstGeom>
          <a:solidFill>
            <a:srgbClr val="40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27889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C97A"/>
                </a:solidFill>
                <a:latin typeface="Microsoft YaHei"/>
              </a:rPr>
              <a:t>内容矩阵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960120"/>
            <a:ext cx="3566160" cy="228600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960120"/>
            <a:ext cx="35661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11430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4C"/>
                </a:solidFill>
                <a:latin typeface="Microsoft YaHei"/>
              </a:rPr>
              <a:t>1000+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19659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DF6EC"/>
                </a:solidFill>
                <a:latin typeface="Microsoft YaHei"/>
              </a:rPr>
              <a:t>预售券订单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2377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8866"/>
                </a:solidFill>
                <a:latin typeface="Microsoft YaHei"/>
              </a:rPr>
              <a:t>带货核销目标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2788920"/>
            <a:ext cx="1371600" cy="256032"/>
          </a:xfrm>
          <a:prstGeom prst="rect">
            <a:avLst/>
          </a:prstGeom>
          <a:solidFill>
            <a:srgbClr val="40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7889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C97A"/>
                </a:solidFill>
                <a:latin typeface="Microsoft YaHei"/>
              </a:rPr>
              <a:t>转化闭环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20440"/>
            <a:ext cx="3566160" cy="228600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520440"/>
            <a:ext cx="35661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4C"/>
                </a:solidFill>
                <a:latin typeface="Microsoft YaHei"/>
              </a:rPr>
              <a:t>15万+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526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DF6EC"/>
                </a:solidFill>
                <a:latin typeface="Microsoft YaHei"/>
              </a:rPr>
              <a:t>大众点评曝光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93776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8866"/>
                </a:solidFill>
                <a:latin typeface="Microsoft YaHei"/>
              </a:rPr>
              <a:t>点星笔记达人保底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54480" y="5349240"/>
            <a:ext cx="1371600" cy="256032"/>
          </a:xfrm>
          <a:prstGeom prst="rect">
            <a:avLst/>
          </a:prstGeom>
          <a:solidFill>
            <a:srgbClr val="40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54480" y="53492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C97A"/>
                </a:solidFill>
                <a:latin typeface="Microsoft YaHei"/>
              </a:rPr>
              <a:t>美团协同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80" y="3520440"/>
            <a:ext cx="3566160" cy="228600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97680" y="3520440"/>
            <a:ext cx="35661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76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4C"/>
                </a:solidFill>
                <a:latin typeface="Microsoft YaHei"/>
              </a:rPr>
              <a:t>4.4+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526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DF6EC"/>
                </a:solidFill>
                <a:latin typeface="Microsoft YaHei"/>
              </a:rPr>
              <a:t>点评评分稳定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493776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8866"/>
                </a:solidFill>
                <a:latin typeface="Microsoft YaHei"/>
              </a:rPr>
              <a:t>热门榜TOP3目标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94960" y="5349240"/>
            <a:ext cx="1371600" cy="256032"/>
          </a:xfrm>
          <a:prstGeom prst="rect">
            <a:avLst/>
          </a:prstGeom>
          <a:solidFill>
            <a:srgbClr val="40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94960" y="53492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C97A"/>
                </a:solidFill>
                <a:latin typeface="Microsoft YaHei"/>
              </a:rPr>
              <a:t>口碑基础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3520440"/>
            <a:ext cx="3566160" cy="228600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38160" y="3520440"/>
            <a:ext cx="35661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816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4C"/>
                </a:solidFill>
                <a:latin typeface="Microsoft YaHei"/>
              </a:rPr>
              <a:t>10万+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4526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DF6EC"/>
                </a:solidFill>
                <a:latin typeface="Microsoft YaHei"/>
              </a:rPr>
              <a:t>精准触达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93776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8866"/>
                </a:solidFill>
                <a:latin typeface="Microsoft YaHei"/>
              </a:rPr>
              <a:t>25-40岁女性定向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35440" y="5349240"/>
            <a:ext cx="1371600" cy="256032"/>
          </a:xfrm>
          <a:prstGeom prst="rect">
            <a:avLst/>
          </a:prstGeom>
          <a:solidFill>
            <a:srgbClr val="40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53492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C97A"/>
                </a:solidFill>
                <a:latin typeface="Microsoft YaHei"/>
              </a:rPr>
              <a:t>人群覆盖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8866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0" y="457200"/>
            <a:ext cx="731520" cy="127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DF6EC"/>
                </a:solidFill>
                <a:latin typeface="Microsoft YaHei"/>
              </a:rPr>
              <a:t>内容矩阵策略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8866"/>
                </a:solidFill>
                <a:latin typeface="Microsoft YaHei"/>
              </a:rPr>
              <a:t>CONTENT MATRIX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60934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822960"/>
            <a:ext cx="16093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费用板块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822960"/>
            <a:ext cx="224942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822960"/>
            <a:ext cx="2249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具体项目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822960"/>
            <a:ext cx="407822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822960"/>
            <a:ext cx="40782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执行标准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822960"/>
            <a:ext cx="362102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822960"/>
            <a:ext cx="3621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预期产出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207008"/>
            <a:ext cx="1609344" cy="795528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243584"/>
            <a:ext cx="14996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云剪素材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1207008"/>
            <a:ext cx="2249424" cy="795528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76272" y="1243584"/>
            <a:ext cx="21396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繁花系列主推菜品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1207008"/>
            <a:ext cx="4078224" cy="795528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1243584"/>
            <a:ext cx="39684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3-5款，制作1000+模板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03920" y="1207008"/>
            <a:ext cx="3621024" cy="795528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1243584"/>
            <a:ext cx="35112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C97A"/>
                </a:solidFill>
                <a:latin typeface="Microsoft YaHei"/>
              </a:rPr>
              <a:t>1000+条本地IP发布素材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029968"/>
            <a:ext cx="1609344" cy="795528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2066544"/>
            <a:ext cx="14996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本地KOC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03120" y="2029968"/>
            <a:ext cx="2249424" cy="795528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2066544"/>
            <a:ext cx="21396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大连本地KOC实探达人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2029968"/>
            <a:ext cx="4078224" cy="795528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62272" y="2066544"/>
            <a:ext cx="39684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40条实探视频，氛围感+卡点风格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0" y="2029968"/>
            <a:ext cx="3621024" cy="795528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7072" y="2066544"/>
            <a:ext cx="35112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C97A"/>
                </a:solidFill>
                <a:latin typeface="Microsoft YaHei"/>
              </a:rPr>
              <a:t>40条高质量探店内容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852928"/>
            <a:ext cx="1609344" cy="795528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2889504"/>
            <a:ext cx="14996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头部KOL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03120" y="2852928"/>
            <a:ext cx="2249424" cy="795528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76272" y="2889504"/>
            <a:ext cx="21396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全国头部云剪+本地KOL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0" y="2852928"/>
            <a:ext cx="4078224" cy="795528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62272" y="2889504"/>
            <a:ext cx="39684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20条以上，卡点类型，大连话题标签加持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03920" y="2852928"/>
            <a:ext cx="3621024" cy="795528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77072" y="2889504"/>
            <a:ext cx="35112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C97A"/>
                </a:solidFill>
                <a:latin typeface="Microsoft YaHei"/>
              </a:rPr>
              <a:t>20+条高信任度权威内容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675888"/>
            <a:ext cx="1609344" cy="795528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3712464"/>
            <a:ext cx="14996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DOU+投放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03120" y="3675888"/>
            <a:ext cx="2249424" cy="795528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176272" y="3712464"/>
            <a:ext cx="21396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精准投放（本地生活）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3675888"/>
            <a:ext cx="4078224" cy="795528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3712464"/>
            <a:ext cx="39684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筛选高数据素材，定向大连25-40岁女性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03920" y="3675888"/>
            <a:ext cx="3621024" cy="795528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77072" y="3712464"/>
            <a:ext cx="35112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C97A"/>
                </a:solidFill>
                <a:latin typeface="Microsoft YaHei"/>
              </a:rPr>
              <a:t>≥300万精准曝光，ROI≥3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498848"/>
            <a:ext cx="1609344" cy="795528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4535424"/>
            <a:ext cx="14996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预售代金券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03120" y="4498848"/>
            <a:ext cx="2249424" cy="795528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176272" y="4535424"/>
            <a:ext cx="21396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¥60/¥100代金券带货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120" y="4498848"/>
            <a:ext cx="4078224" cy="795528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62272" y="4535424"/>
            <a:ext cx="39684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3张券组合，抖音橱窗挂载带货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03920" y="4498848"/>
            <a:ext cx="3621024" cy="795528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77072" y="4535424"/>
            <a:ext cx="35112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C97A"/>
                </a:solidFill>
                <a:latin typeface="Microsoft YaHei"/>
              </a:rPr>
              <a:t>直接带货转化，1000+订单目标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8866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0" y="457200"/>
            <a:ext cx="731520" cy="127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DF6EC"/>
                </a:solidFill>
                <a:latin typeface="Microsoft YaHei"/>
              </a:rPr>
              <a:t>抖音投流节奏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8866"/>
                </a:solidFill>
                <a:latin typeface="Microsoft YaHei"/>
              </a:rPr>
              <a:t>TIKTOK DELIVERY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926080"/>
            <a:ext cx="944575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2788920"/>
            <a:ext cx="274320" cy="27432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960120"/>
            <a:ext cx="3200400" cy="182880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0" y="960120"/>
            <a:ext cx="3200400" cy="25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1005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Microsoft YaHei"/>
              </a:rPr>
              <a:t>PHASE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280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Microsoft YaHei"/>
              </a:rPr>
              <a:t>蓄水期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1691640"/>
            <a:ext cx="731520" cy="201168"/>
          </a:xfrm>
          <a:prstGeom prst="rect">
            <a:avLst/>
          </a:prstGeom>
          <a:solidFill>
            <a:srgbClr val="40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16916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C97A"/>
                </a:solidFill>
                <a:latin typeface="Microsoft YaHei"/>
              </a:rPr>
              <a:t>开业前14天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2103120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7632" y="20116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云剪批量素材拍摄制作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245059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23591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40条KOC实探内容预埋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2798064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27632" y="27066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20+头部KOL内容同步发布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314553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7632" y="30540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DOU+小额测试，选出高数据素材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2788920"/>
            <a:ext cx="274320" cy="27432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960120"/>
            <a:ext cx="3200400" cy="182880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46320" y="960120"/>
            <a:ext cx="3200400" cy="25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1005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Microsoft YaHei"/>
              </a:rPr>
              <a:t>PHASE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1280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Microsoft YaHei"/>
              </a:rPr>
              <a:t>引爆期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37760" y="1691640"/>
            <a:ext cx="731520" cy="201168"/>
          </a:xfrm>
          <a:prstGeom prst="rect">
            <a:avLst/>
          </a:prstGeom>
          <a:solidFill>
            <a:srgbClr val="40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16916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C97A"/>
                </a:solidFill>
                <a:latin typeface="Microsoft YaHei"/>
              </a:rPr>
              <a:t>开业第1-3天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2103120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2" y="20116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锁定最高ROI素材全力DOU+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37760" y="245059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23591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DOU+精准定向大连25-40岁女性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2798064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02352" y="27066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内容叠加曝光，引爆开业声量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0" y="314553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02352" y="30540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实时监控数据，动态调整投放策略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09760" y="2788920"/>
            <a:ext cx="274320" cy="27432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21040" y="960120"/>
            <a:ext cx="3200400" cy="182880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321040" y="960120"/>
            <a:ext cx="3200400" cy="25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0" y="1005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Microsoft YaHei"/>
              </a:rPr>
              <a:t>PHASE 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1280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Microsoft YaHei"/>
              </a:rPr>
              <a:t>续热期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0" y="1691640"/>
            <a:ext cx="731520" cy="201168"/>
          </a:xfrm>
          <a:prstGeom prst="rect">
            <a:avLst/>
          </a:prstGeom>
          <a:solidFill>
            <a:srgbClr val="40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0" y="16916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C97A"/>
                </a:solidFill>
                <a:latin typeface="Microsoft YaHei"/>
              </a:rPr>
              <a:t>开业第4-14天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0" y="2103120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77072" y="20116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机动备用金追投爆款内容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12480" y="245059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77072" y="23591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KOC持续补充真实UGC内容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12480" y="2798064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77072" y="27066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新店宝强制曝光，排名TOP3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314553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77072" y="30540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预售代金券持续核销转化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8866"/>
                </a:solidFill>
                <a:latin typeface="Microsoft YaHei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0" y="457200"/>
            <a:ext cx="731520" cy="127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DF6EC"/>
                </a:solidFill>
                <a:latin typeface="Microsoft YaHei"/>
              </a:rPr>
              <a:t>美团点评官方资源协同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8866"/>
                </a:solidFill>
                <a:latin typeface="Microsoft YaHei"/>
              </a:rPr>
              <a:t>MEITUAN &amp; DIANPING OFFICIAL SYNERGY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5577840" cy="246888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457200" cy="24688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005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Microsoft YaHei"/>
              </a:rPr>
              <a:t>商户通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527048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417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商户通提前5天开通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1874520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176479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配合预售活动5图宣传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222199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21122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开业前完成基础信息搭建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914400"/>
            <a:ext cx="5577840" cy="246888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914400"/>
            <a:ext cx="457200" cy="2468880"/>
          </a:xfrm>
          <a:prstGeom prst="rect">
            <a:avLst/>
          </a:prstGeom>
          <a:solidFill>
            <a:srgbClr val="E8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005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C97A"/>
                </a:solidFill>
                <a:latin typeface="Microsoft YaHei"/>
              </a:rPr>
              <a:t>新店宝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3720" y="1527048"/>
            <a:ext cx="109728" cy="109728"/>
          </a:xfrm>
          <a:prstGeom prst="rect">
            <a:avLst/>
          </a:prstGeom>
          <a:solidFill>
            <a:srgbClr val="E8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6600" y="1417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试营业当天启动新店宝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03720" y="1874520"/>
            <a:ext cx="109728" cy="109728"/>
          </a:xfrm>
          <a:prstGeom prst="rect">
            <a:avLst/>
          </a:prstGeom>
          <a:solidFill>
            <a:srgbClr val="E8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176479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强制曝光14天，排名TOP3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2221992"/>
            <a:ext cx="109728" cy="109728"/>
          </a:xfrm>
          <a:prstGeom prst="rect">
            <a:avLst/>
          </a:prstGeom>
          <a:solidFill>
            <a:srgbClr val="E8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21122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三张列表页图片+60代100代金券组合宣传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57600"/>
            <a:ext cx="5577840" cy="246888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57600"/>
            <a:ext cx="457200" cy="2468880"/>
          </a:xfrm>
          <a:prstGeom prst="rect">
            <a:avLst/>
          </a:prstGeom>
          <a:solidFill>
            <a:srgbClr val="FD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3749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DF6EC"/>
                </a:solidFill>
                <a:latin typeface="Microsoft YaHei"/>
              </a:rPr>
              <a:t>推广通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" y="4270248"/>
            <a:ext cx="109728" cy="109728"/>
          </a:xfrm>
          <a:prstGeom prst="rect">
            <a:avLst/>
          </a:prstGeom>
          <a:solidFill>
            <a:srgbClr val="FD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4160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售卖不及预期时启动投放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1560" y="4617720"/>
            <a:ext cx="109728" cy="109728"/>
          </a:xfrm>
          <a:prstGeom prst="rect">
            <a:avLst/>
          </a:prstGeom>
          <a:solidFill>
            <a:srgbClr val="FD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34440" y="450799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有一定基础信息后启动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1560" y="4965192"/>
            <a:ext cx="109728" cy="109728"/>
          </a:xfrm>
          <a:prstGeom prst="rect">
            <a:avLst/>
          </a:prstGeom>
          <a:solidFill>
            <a:srgbClr val="FD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4440" y="48554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榜单/星级/30条评论基础后投放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657600"/>
            <a:ext cx="5577840" cy="246888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3657600"/>
            <a:ext cx="457200" cy="2468880"/>
          </a:xfrm>
          <a:prstGeom prst="rect">
            <a:avLst/>
          </a:prstGeom>
          <a:solidFill>
            <a:srgbClr val="AA8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03720" y="3749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A8866"/>
                </a:solidFill>
                <a:latin typeface="Microsoft YaHei"/>
              </a:rPr>
              <a:t>点星笔记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03720" y="4270248"/>
            <a:ext cx="109728" cy="109728"/>
          </a:xfrm>
          <a:prstGeom prst="rect">
            <a:avLst/>
          </a:prstGeom>
          <a:solidFill>
            <a:srgbClr val="AA8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86600" y="4160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20位5星笔记达人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03720" y="4617720"/>
            <a:ext cx="109728" cy="109728"/>
          </a:xfrm>
          <a:prstGeom prst="rect">
            <a:avLst/>
          </a:prstGeom>
          <a:solidFill>
            <a:srgbClr val="AA8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86600" y="450799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高质量图文笔记（菜品视觉/环境氛围/服务体验）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03720" y="4965192"/>
            <a:ext cx="109728" cy="109728"/>
          </a:xfrm>
          <a:prstGeom prst="rect">
            <a:avLst/>
          </a:prstGeom>
          <a:solidFill>
            <a:srgbClr val="AA8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86600" y="48554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15万曝光保底 · 评分稳定4.4+ · 热门榜TOP3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520293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8866"/>
                </a:solidFill>
                <a:latin typeface="Microsoft YaHei"/>
              </a:rPr>
              <a:t>※ 平台费用，不包含在本次方案预算内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8866"/>
                </a:solidFill>
                <a:latin typeface="Microsoft YaHei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0" y="457200"/>
            <a:ext cx="731520" cy="127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DF6EC"/>
                </a:solidFill>
                <a:latin typeface="Microsoft YaHei"/>
              </a:rPr>
              <a:t>项目执行总结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8866"/>
                </a:solidFill>
                <a:latin typeface="Microsoft YaHei"/>
              </a:rPr>
              <a:t>EXECUTION SUMMARY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60934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822960"/>
            <a:ext cx="16093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费用板块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822960"/>
            <a:ext cx="224942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822960"/>
            <a:ext cx="2249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具体项目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822960"/>
            <a:ext cx="407822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822960"/>
            <a:ext cx="40782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执行标准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822960"/>
            <a:ext cx="362102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822960"/>
            <a:ext cx="3621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预期产出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207008"/>
            <a:ext cx="160934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1243584"/>
            <a:ext cx="1536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内容生产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1207008"/>
            <a:ext cx="224942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57984" y="1243584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云剪素材拍摄+批量制作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1207008"/>
            <a:ext cx="407822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3984" y="1243584"/>
            <a:ext cx="4005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繁花系列主推菜品3-5款，制作1000+模板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03920" y="1207008"/>
            <a:ext cx="362102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58784" y="1243584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C97A"/>
                </a:solidFill>
                <a:latin typeface="Microsoft YaHei"/>
              </a:rPr>
              <a:t>1000+条本地IP发布素材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1865376"/>
            <a:ext cx="160934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1901952"/>
            <a:ext cx="1536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本地KOC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03120" y="1865376"/>
            <a:ext cx="224942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57984" y="1901952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大连本地KOC实探达人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1865376"/>
            <a:ext cx="407822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43984" y="1901952"/>
            <a:ext cx="4005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40条实探视频，氛围感+卡点风格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0" y="1865376"/>
            <a:ext cx="362102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58784" y="1901952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C97A"/>
                </a:solidFill>
                <a:latin typeface="Microsoft YaHei"/>
              </a:rPr>
              <a:t>40条高质量探店内容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523744"/>
            <a:ext cx="160934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2560320"/>
            <a:ext cx="1536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头部KOL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03120" y="2523744"/>
            <a:ext cx="224942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57984" y="2560320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全国头部云剪+本地KOL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0" y="2523744"/>
            <a:ext cx="407822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43984" y="2560320"/>
            <a:ext cx="4005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20条以上，卡点类型，大连话题标签加持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03920" y="2523744"/>
            <a:ext cx="362102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784" y="2560320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C97A"/>
                </a:solidFill>
                <a:latin typeface="Microsoft YaHei"/>
              </a:rPr>
              <a:t>20+条高信任度权威内容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182112"/>
            <a:ext cx="160934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3218688"/>
            <a:ext cx="1536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抖音投流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03120" y="3182112"/>
            <a:ext cx="224942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157984" y="3218688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DOU+精准投放（本地生活）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3182112"/>
            <a:ext cx="407822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43984" y="3218688"/>
            <a:ext cx="4005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筛选高数据素材，定向大连25-40岁女性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03920" y="3182112"/>
            <a:ext cx="362102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58784" y="3218688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C97A"/>
                </a:solidFill>
                <a:latin typeface="Microsoft YaHei"/>
              </a:rPr>
              <a:t>≥300万精准曝光，ROI≥3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3840480"/>
            <a:ext cx="160934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2064" y="3877056"/>
            <a:ext cx="1536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预售代金券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03120" y="3840480"/>
            <a:ext cx="224942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157984" y="3877056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¥60/¥100代金券带货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120" y="3840480"/>
            <a:ext cx="407822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43984" y="3877056"/>
            <a:ext cx="4005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3张券组合，抖音橱窗挂载带货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03920" y="3840480"/>
            <a:ext cx="362102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58784" y="3877056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C97A"/>
                </a:solidFill>
                <a:latin typeface="Microsoft YaHei"/>
              </a:rPr>
              <a:t>直接带货转化，1000+订单目标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498848"/>
            <a:ext cx="160934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2064" y="4535424"/>
            <a:ext cx="1536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点星笔记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03120" y="4498848"/>
            <a:ext cx="224942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157984" y="4535424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大众点评点星笔记达人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89120" y="4498848"/>
            <a:ext cx="407822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43984" y="4535424"/>
            <a:ext cx="4005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20位5星笔记达人，高质量图文笔记，覆盖菜品视觉/环境氛围/服务体验三大维度，15万曝光保底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03920" y="4498848"/>
            <a:ext cx="362102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58784" y="4535424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C97A"/>
                </a:solidFill>
                <a:latin typeface="Microsoft YaHei"/>
              </a:rPr>
              <a:t>15万曝光保底 · 评分稳定4.4+ · 热门榜TOP3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157216"/>
            <a:ext cx="160934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2064" y="5193792"/>
            <a:ext cx="1536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免费菜蓄水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103120" y="5157216"/>
            <a:ext cx="224942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57984" y="5193792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开业前评分预埋（免费菜）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89120" y="5157216"/>
            <a:ext cx="407822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43984" y="5193792"/>
            <a:ext cx="4005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提前激励真实用户评分，初始分保障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03920" y="5157216"/>
            <a:ext cx="3621024" cy="630936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58784" y="5193792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C97A"/>
                </a:solidFill>
                <a:latin typeface="Microsoft YaHei"/>
              </a:rPr>
              <a:t>上线初始分≥4.0，快速达标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" y="5815584"/>
            <a:ext cx="160934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12064" y="5852160"/>
            <a:ext cx="1536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Microsoft YaHei"/>
              </a:rPr>
              <a:t>机动备用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103120" y="5815584"/>
            <a:ext cx="224942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157984" y="5852160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DF6EC"/>
                </a:solidFill>
                <a:latin typeface="Microsoft YaHei"/>
              </a:rPr>
              <a:t>数据追投+突发素材补充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120" y="5815584"/>
            <a:ext cx="407822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43984" y="5852160"/>
            <a:ext cx="4005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DF6EC"/>
                </a:solidFill>
                <a:latin typeface="Microsoft YaHei"/>
              </a:rPr>
              <a:t>根据前2周数据灵活追投爆款内容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503920" y="5815584"/>
            <a:ext cx="3621024" cy="630936"/>
          </a:xfrm>
          <a:prstGeom prst="rect">
            <a:avLst/>
          </a:prstGeom>
          <a:solidFill>
            <a:srgbClr val="1807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558784" y="5852160"/>
            <a:ext cx="3547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C97A"/>
                </a:solidFill>
                <a:latin typeface="Microsoft YaHei"/>
              </a:rPr>
              <a:t>弹性应对爆款内容追投需求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743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8866"/>
                </a:solidFill>
                <a:latin typeface="Microsoft YaHei"/>
              </a:rPr>
              <a:t>PROPOSAL · 2026 · DALIAN FIRST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188720"/>
            <a:ext cx="12188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Microsoft YaHei"/>
              </a:rPr>
              <a:t>繁花已备好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92024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DF6EC"/>
                </a:solidFill>
                <a:latin typeface="Microsoft YaHei"/>
              </a:rPr>
              <a:t>只等一声确认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697480"/>
            <a:ext cx="48737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28346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DF6EC"/>
                </a:solidFill>
                <a:latin typeface="Microsoft YaHei"/>
              </a:rPr>
              <a:t>这份方案，是我们在合作正式开启之前，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3218688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DF6EC"/>
                </a:solidFill>
                <a:latin typeface="Microsoft YaHei"/>
              </a:rPr>
              <a:t>出于对「花腰鼓·繁花系列」品牌的判断与信心，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3602736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DF6EC"/>
                </a:solidFill>
                <a:latin typeface="Microsoft YaHei"/>
              </a:rPr>
              <a:t>提前完成的一份诚意之作。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986784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DF6EC"/>
                </a:solidFill>
                <a:latin typeface="Microsoft YaHei"/>
              </a:rPr>
              <a:t>每一个策略节点，都已为大连首店量身测算。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4572000"/>
            <a:ext cx="5788152" cy="822960"/>
          </a:xfrm>
          <a:prstGeom prst="rect">
            <a:avLst/>
          </a:prstGeom>
          <a:solidFill>
            <a:srgbClr val="20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4572000"/>
            <a:ext cx="578815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46177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  <a:latin typeface="Microsoft YaHei"/>
              </a:rPr>
              <a:t>期待尽快确认合作意向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4965192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8866"/>
                </a:solidFill>
                <a:latin typeface="Microsoft YaHei"/>
              </a:rPr>
              <a:t>我们将第一时间完成协议签署与执行启动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66928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8866"/>
                </a:solidFill>
                <a:latin typeface="Microsoft YaHei"/>
              </a:rPr>
              <a:t>仅供受邀方阅览  |  成都弯道超车传媒有限公司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