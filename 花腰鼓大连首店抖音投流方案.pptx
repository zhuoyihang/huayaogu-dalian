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63040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9A84C"/>
                </a:solidFill>
              </a:rPr>
              <a:t>FANHUA SERIES · 繁花系列 · DALIAN FIRST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920240"/>
            <a:ext cx="121889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 i="0">
                <a:solidFill>
                  <a:srgbClr val="FDF6EC"/>
                </a:solidFill>
              </a:rPr>
              <a:t>花腰鼓·云南小炒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43200"/>
            <a:ext cx="121889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0">
                <a:solidFill>
                  <a:srgbClr val="E8C97A"/>
                </a:solidFill>
              </a:rPr>
              <a:t>大连首店  ·  抖音带货 + 投流方案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3961409" y="3337560"/>
            <a:ext cx="4266133" cy="63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3657600"/>
            <a:ext cx="2286000" cy="1005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3703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方案总预算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931920"/>
            <a:ext cx="2286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¥50,000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98348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▸ 抖音带货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5072" y="498348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▸ 精准投流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9824" y="498348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▸ 本地KOC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4576" y="498348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▸ 美团联动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98348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▸ 预售核销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成都弯道超车传媒有限公司  ·  专项策划提案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926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1">
                <a:solidFill>
                  <a:srgbClr val="301808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BRAND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DF6EC"/>
                </a:solidFill>
              </a:rPr>
              <a:t>品牌定位 · 市场机会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474720" cy="21945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</a:rPr>
              <a:t>从云南到云南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DF6EC"/>
                </a:solidFill>
              </a:rPr>
              <a:t>正宗溯源
品牌美学背书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554480"/>
            <a:ext cx="3474720" cy="21945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73736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</a:rPr>
              <a:t>漂亮饭·小资餐厅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286000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DF6EC"/>
                </a:solidFill>
              </a:rPr>
              <a:t>大连市场稀缺
高颜值云南菜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554480"/>
            <a:ext cx="3474720" cy="21945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73736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</a:rPr>
              <a:t>繁花美学首店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286000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DF6EC"/>
                </a:solidFill>
              </a:rPr>
              <a:t>差异化打开
大连市场认知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核心策略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544568"/>
            <a:ext cx="73152" cy="73152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DF6EC"/>
                </a:solidFill>
              </a:rPr>
              <a:t>以「繁花系列」建立大连首店差异化云南菜品牌认知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928616"/>
            <a:ext cx="73152" cy="73152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18888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DF6EC"/>
                </a:solidFill>
              </a:rPr>
              <a:t>从云南到云南，正宗溯源，漂亮饭·小资餐厅·繁花美学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312664"/>
            <a:ext cx="73152" cy="73152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02936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DF6EC"/>
                </a:solidFill>
              </a:rPr>
              <a:t>双平台（抖音+大众点评）矩阵覆盖，开业前30天内快速建立口碑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696712"/>
            <a:ext cx="73152" cy="73152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5869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DF6EC"/>
                </a:solidFill>
              </a:rPr>
              <a:t>KOC本地实探内容 + 头部KOL权威背书 + 精准投流 三层放大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004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1">
                <a:solidFill>
                  <a:srgbClr val="281406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FANHUA AESTHETICS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DF6EC"/>
                </a:solidFill>
              </a:rPr>
              <a:t>繁花系列·美学设计方向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</a:rPr>
              <a:t>色彩体系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41732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繁花红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874519"/>
            <a:ext cx="1417320" cy="4572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4231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暮云深红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874519"/>
            <a:ext cx="141732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山茶金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874519"/>
            <a:ext cx="1417320" cy="457200"/>
          </a:xfrm>
          <a:prstGeom prst="rect">
            <a:avLst/>
          </a:prstGeom>
          <a:solidFill>
            <a:srgbClr val="D4B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4231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滇金浅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874519"/>
            <a:ext cx="1417320" cy="457200"/>
          </a:xfrm>
          <a:prstGeom prst="rect">
            <a:avLst/>
          </a:prstGeom>
          <a:solidFill>
            <a:srgbClr val="2E4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4231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竹林墨绿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874519"/>
            <a:ext cx="1417320" cy="457200"/>
          </a:xfrm>
          <a:prstGeom prst="rect">
            <a:avLst/>
          </a:prstGeom>
          <a:solidFill>
            <a:srgbClr val="1A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4231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乌木深黑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1874519"/>
            <a:ext cx="1417320" cy="457200"/>
          </a:xfrm>
          <a:prstGeom prst="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24231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宣纸米白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9260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</a:rPr>
              <a:t>设计三大支柱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337560"/>
            <a:ext cx="3657600" cy="182880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8C97A"/>
                </a:solidFill>
              </a:rPr>
              <a:t>花 · 视觉语言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繁花纹样为核心视觉元素
花瓣构图 / 满溢视觉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3337560"/>
            <a:ext cx="3657600" cy="182880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4747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8C97A"/>
                </a:solidFill>
              </a:rPr>
              <a:t>光 · 空间氛围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3192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暖光漫射+局部点光
制造小资氛围感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3337560"/>
            <a:ext cx="3657600" cy="182880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4747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8C97A"/>
                </a:solidFill>
              </a:rPr>
              <a:t>器 · 材质美学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93192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陶瓷/木器/铜件
传统器物与现代摆盘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B09070"/>
                </a:solidFill>
              </a:rPr>
              <a:t>视觉关键词：温润 · 繁盛 · 精致 · 沉静 · 高饱和留白 · 中式美学现代表达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15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B09070"/>
                </a:solidFill>
              </a:rPr>
              <a:t>内容调性：小资生活方式 · 漂亮的饭 · 有仪式感的日常 · 女性友好 · 探店必打卡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34747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1">
                <a:solidFill>
                  <a:srgbClr val="281406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KPI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DF6EC"/>
                </a:solidFill>
              </a:rPr>
              <a:t>核心数据目标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645920"/>
            <a:ext cx="2031492" cy="3291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828800"/>
            <a:ext cx="20314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300万+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926080"/>
            <a:ext cx="20314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DF6EC"/>
                </a:solidFill>
              </a:rPr>
              <a:t>抖音精准曝光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74720"/>
            <a:ext cx="20314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09070"/>
                </a:solidFill>
              </a:rPr>
              <a:t>本地生活定向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31492" y="1645920"/>
            <a:ext cx="2031492" cy="329184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1492" y="1828800"/>
            <a:ext cx="20314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i="0">
                <a:solidFill>
                  <a:srgbClr val="C9A84C"/>
                </a:solidFill>
              </a:rPr>
              <a:t>1000+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1492" y="2926080"/>
            <a:ext cx="20314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DF6EC"/>
                </a:solidFill>
              </a:rPr>
              <a:t>预售券核销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1492" y="3474720"/>
            <a:ext cx="20314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09070"/>
                </a:solidFill>
              </a:rPr>
              <a:t>带货转化目标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2984" y="1645920"/>
            <a:ext cx="2031492" cy="3291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2984" y="1828800"/>
            <a:ext cx="20314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2926080"/>
            <a:ext cx="20314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DF6EC"/>
                </a:solidFill>
              </a:rPr>
              <a:t>点评曝光保底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2984" y="3474720"/>
            <a:ext cx="20314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09070"/>
                </a:solidFill>
              </a:rPr>
              <a:t>组局探店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1645920"/>
            <a:ext cx="2031492" cy="329184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4476" y="1828800"/>
            <a:ext cx="20314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i="0">
                <a:solidFill>
                  <a:srgbClr val="C9A84C"/>
                </a:solidFill>
              </a:rPr>
              <a:t>4.4+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4476" y="2926080"/>
            <a:ext cx="20314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DF6EC"/>
                </a:solidFill>
              </a:rPr>
              <a:t>目标评分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4476" y="3474720"/>
            <a:ext cx="20314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09070"/>
                </a:solidFill>
              </a:rPr>
              <a:t>大众点评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5968" y="1645920"/>
            <a:ext cx="2031492" cy="3291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5968" y="1828800"/>
            <a:ext cx="20314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5968" y="2926080"/>
            <a:ext cx="20314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DF6EC"/>
                </a:solidFill>
              </a:rPr>
              <a:t>预售订单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5968" y="3474720"/>
            <a:ext cx="20314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09070"/>
                </a:solidFill>
              </a:rPr>
              <a:t>开业首月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57460" y="1645920"/>
            <a:ext cx="2031492" cy="329184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57460" y="1828800"/>
            <a:ext cx="20314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i="0">
                <a:solidFill>
                  <a:srgbClr val="C9A84C"/>
                </a:solidFill>
              </a:rPr>
              <a:t>TOP3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7460" y="2926080"/>
            <a:ext cx="20314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DF6EC"/>
                </a:solidFill>
              </a:rPr>
              <a:t>热门榜排名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7460" y="3474720"/>
            <a:ext cx="20314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09070"/>
                </a:solidFill>
              </a:rPr>
              <a:t>大连云南菜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9070"/>
                </a:solidFill>
              </a:rPr>
              <a:t>以上为开业首月核心量化目标，依据执行进度灵活追投优化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521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281406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CONTENT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DF6EC"/>
                </a:solidFill>
              </a:rPr>
              <a:t>内容矩阵策略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1828800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636776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内容板块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600200"/>
            <a:ext cx="2560320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636776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预期产出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600200"/>
            <a:ext cx="1280160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636776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预算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600200"/>
            <a:ext cx="6217920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636776"/>
            <a:ext cx="6126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执行标准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65960"/>
            <a:ext cx="182880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65960"/>
            <a:ext cx="256032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0" y="1965960"/>
            <a:ext cx="128016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1965960"/>
            <a:ext cx="621792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03911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</a:rPr>
              <a:t>云剪素材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039112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1000+条本地IP发布素材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039112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¥6,000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039112"/>
            <a:ext cx="6126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B09070"/>
                </a:solidFill>
              </a:rPr>
              <a:t>繁花系列主推菜品3-5款，制作1000+模板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551176"/>
            <a:ext cx="182880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48840" y="2551176"/>
            <a:ext cx="256032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0" y="2551176"/>
            <a:ext cx="128016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2551176"/>
            <a:ext cx="621792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2432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</a:rPr>
              <a:t>本地KOC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2624328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40条实探视频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624328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¥8,000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624328"/>
            <a:ext cx="6126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B09070"/>
                </a:solidFill>
              </a:rPr>
              <a:t>氛围感+卡点风格，大连本地KOC实探达人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136392"/>
            <a:ext cx="182880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48840" y="3136392"/>
            <a:ext cx="256032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80" y="3136392"/>
            <a:ext cx="128016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0760" y="3136392"/>
            <a:ext cx="621792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3209544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</a:rPr>
              <a:t>头部KOL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209544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20+条权威内容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3209544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¥6,000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209544"/>
            <a:ext cx="6126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B09070"/>
                </a:solidFill>
              </a:rPr>
              <a:t>全国头部云剪+本地KOL，卡点类型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721608"/>
            <a:ext cx="182880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3721608"/>
            <a:ext cx="256032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54880" y="3721608"/>
            <a:ext cx="128016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80760" y="3721608"/>
            <a:ext cx="6217920" cy="548640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379476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</a:rPr>
              <a:t>抖音投流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3794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≥300万精准曝光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600" y="379476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¥14,000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3794760"/>
            <a:ext cx="6126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B09070"/>
                </a:solidFill>
              </a:rPr>
              <a:t>DOU+精准投放，定向大连25-40岁女性，ROI≥3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306824"/>
            <a:ext cx="182880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48840" y="4306824"/>
            <a:ext cx="256032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54880" y="4306824"/>
            <a:ext cx="128016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4306824"/>
            <a:ext cx="6217920" cy="548640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43799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</a:rPr>
              <a:t>预售代金券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4560" y="4379976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1000+订单目标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600" y="4379976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E8C97A"/>
                </a:solidFill>
              </a:rPr>
              <a:t>¥0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4379976"/>
            <a:ext cx="6126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B09070"/>
                </a:solidFill>
              </a:rPr>
              <a:t>¥60/¥100代金券，抖音橱窗挂载带货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281406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DOUYIN AD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DF6EC"/>
                </a:solidFill>
              </a:rPr>
              <a:t>抖音投流节奏 · 三阶段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4805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8C97A"/>
                </a:solidFill>
              </a:rPr>
              <a:t>第一阶段
开业前 7 天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97480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云剪素材批量制作完成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081528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90088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本地KOC招募，提前备稿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465576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账号基础搭建，橱窗开通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849624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58184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团购链接上架+代金券配置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554480"/>
            <a:ext cx="3749039" cy="448056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39" y="17373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8C97A"/>
                </a:solidFill>
              </a:rPr>
              <a:t>第二阶段
开业前 3 天
~ 开业当天</a:t>
            </a:r>
          </a:p>
        </p:txBody>
      </p:sp>
      <p:sp>
        <p:nvSpPr>
          <p:cNvPr id="18" name="Oval 17"/>
          <p:cNvSpPr/>
          <p:nvPr/>
        </p:nvSpPr>
        <p:spPr>
          <a:xfrm>
            <a:off x="4480559" y="2697480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39" y="2606040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KOC实探视频陆续发布</a:t>
            </a:r>
          </a:p>
        </p:txBody>
      </p:sp>
      <p:sp>
        <p:nvSpPr>
          <p:cNvPr id="20" name="Oval 19"/>
          <p:cNvSpPr/>
          <p:nvPr/>
        </p:nvSpPr>
        <p:spPr>
          <a:xfrm>
            <a:off x="4480559" y="3081528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39" y="2990088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DOU+ 精准投放启动</a:t>
            </a:r>
          </a:p>
        </p:txBody>
      </p:sp>
      <p:sp>
        <p:nvSpPr>
          <p:cNvPr id="22" name="Oval 21"/>
          <p:cNvSpPr/>
          <p:nvPr/>
        </p:nvSpPr>
        <p:spPr>
          <a:xfrm>
            <a:off x="4480559" y="3465576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39" y="3374136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预售代金券橱窗挂载带货</a:t>
            </a:r>
          </a:p>
        </p:txBody>
      </p:sp>
      <p:sp>
        <p:nvSpPr>
          <p:cNvPr id="24" name="Oval 23"/>
          <p:cNvSpPr/>
          <p:nvPr/>
        </p:nvSpPr>
        <p:spPr>
          <a:xfrm>
            <a:off x="4480559" y="3849624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39" y="3758184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头部KOL发布权威背书内容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598" y="1554480"/>
            <a:ext cx="3749039" cy="44805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8" y="17373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8C97A"/>
                </a:solidFill>
              </a:rPr>
              <a:t>第三阶段
开业后 14 天</a:t>
            </a:r>
          </a:p>
        </p:txBody>
      </p:sp>
      <p:sp>
        <p:nvSpPr>
          <p:cNvPr id="28" name="Oval 27"/>
          <p:cNvSpPr/>
          <p:nvPr/>
        </p:nvSpPr>
        <p:spPr>
          <a:xfrm>
            <a:off x="8458198" y="2697480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41078" y="2606040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持续追投高数据素材</a:t>
            </a:r>
          </a:p>
        </p:txBody>
      </p:sp>
      <p:sp>
        <p:nvSpPr>
          <p:cNvPr id="30" name="Oval 29"/>
          <p:cNvSpPr/>
          <p:nvPr/>
        </p:nvSpPr>
        <p:spPr>
          <a:xfrm>
            <a:off x="8458198" y="3081528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1078" y="2990088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直播带货（短视频导流）</a:t>
            </a:r>
          </a:p>
        </p:txBody>
      </p:sp>
      <p:sp>
        <p:nvSpPr>
          <p:cNvPr id="32" name="Oval 31"/>
          <p:cNvSpPr/>
          <p:nvPr/>
        </p:nvSpPr>
        <p:spPr>
          <a:xfrm>
            <a:off x="8458198" y="3465576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78" y="3374136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数据复盘，优化投放组合</a:t>
            </a:r>
          </a:p>
        </p:txBody>
      </p:sp>
      <p:sp>
        <p:nvSpPr>
          <p:cNvPr id="34" name="Oval 33"/>
          <p:cNvSpPr/>
          <p:nvPr/>
        </p:nvSpPr>
        <p:spPr>
          <a:xfrm>
            <a:off x="8458198" y="3849624"/>
            <a:ext cx="64008" cy="6400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78" y="3758184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爆款内容二次放大投流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2179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DOU+ 投放策略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B09070"/>
                </a:solidFill>
              </a:rPr>
              <a:t>预算 ¥14,000 · 定向大连 25-40 岁女性 · 美食/探店兴趣标签 · 预估曝光 300 万+  · ROI 目标 ≥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281406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MEITUAN DIANPING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DF6EC"/>
                </a:solidFill>
              </a:rPr>
              <a:t>美团点评协同方案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2834640" cy="40233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🔵 商户通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提前 5 天开通
配合预售活动 5 图宣传
配合抖音投流节奏，双平台矩阵覆盖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554480"/>
            <a:ext cx="2834640" cy="40233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3736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⭐ 点星笔记·组局探店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24028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20 位大众点评达人
高质量图文笔记，三维度覆盖
收费 ¥7,500，15 万曝光保底
（平台费用，不含本次方案预算）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2834640" cy="40233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🎯 推广通 + 新店宝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试营业当天启动新店宝
强制曝光 14 天，排名第二
3 张列表页图片 + ¥60/¥100 代金券
若销售不及预期则启动推广通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554480"/>
            <a:ext cx="2834640" cy="402336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173736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💡 免费菜蓄水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24028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</a:rPr>
              <a:t>开业前激励真实用户评分
预埋基础评分，确保
上线初始分 ≥ 4.0 快速达标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E8C97A"/>
                </a:solidFill>
              </a:rPr>
              <a:t>✦ 抖音激活用户兴趣，引发搜索大众点评（大连市场点评占有率高），形成自然流量承接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281406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EXECUTION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i="0">
                <a:solidFill>
                  <a:srgbClr val="FDF6EC"/>
                </a:solidFill>
              </a:rPr>
              <a:t>项目执行总结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508760"/>
            <a:ext cx="146304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" y="1527048"/>
            <a:ext cx="13898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费用板块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508760"/>
            <a:ext cx="219456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73936" y="1527048"/>
            <a:ext cx="212140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具体项目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508760"/>
            <a:ext cx="457200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14215" y="1527048"/>
            <a:ext cx="449884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执行标准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508760"/>
            <a:ext cx="329184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31936" y="1527048"/>
            <a:ext cx="32186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预期产出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810512"/>
            <a:ext cx="14630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37360" y="1810512"/>
            <a:ext cx="219456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77639" y="1810512"/>
            <a:ext cx="457200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5360" y="1810512"/>
            <a:ext cx="32918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1865376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内容生产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1865376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云剪素材拍摄+批量制作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1865376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繁花系列主推菜品3-5款，制作1000+模板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1865376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1000+条本地IP发布素材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350007"/>
            <a:ext cx="14630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37360" y="2350007"/>
            <a:ext cx="219456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2350007"/>
            <a:ext cx="457200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95360" y="2350007"/>
            <a:ext cx="32918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2404871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本地KOC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2404871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大连本地KOC实探达人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59" y="2404871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40条实探视频，氛围感+卡点风格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404871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40条高质量探店内容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2889502"/>
            <a:ext cx="14630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37360" y="2889502"/>
            <a:ext cx="219456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77639" y="2889502"/>
            <a:ext cx="457200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95360" y="2889502"/>
            <a:ext cx="32918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2944366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头部KOL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2944366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全国头部云剪+本地KOL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59" y="2944366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20条以上，卡点类型，大连话题标签加持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2944366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20+条权威内容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3428997"/>
            <a:ext cx="14630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37360" y="3428997"/>
            <a:ext cx="219456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77639" y="3428997"/>
            <a:ext cx="457200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95360" y="3428997"/>
            <a:ext cx="32918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3483861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抖音投流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483861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DOU+精准投放（本地生活）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3359" y="3483861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筛选高数据素材，定向大连25-40岁女性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3483861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≥300万精准曝光，ROI≥3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3968492"/>
            <a:ext cx="14630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37360" y="3968492"/>
            <a:ext cx="219456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77639" y="3968492"/>
            <a:ext cx="457200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95360" y="3968492"/>
            <a:ext cx="32918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4023356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预售代金券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83080" y="4023356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¥60/¥100代金券带货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359" y="4023356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3张券组合，抖音橱窗挂载带货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4023356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直接带货转化，1000+订单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" y="4507987"/>
            <a:ext cx="14630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37360" y="4507987"/>
            <a:ext cx="219456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77639" y="4507987"/>
            <a:ext cx="457200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595360" y="4507987"/>
            <a:ext cx="32918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4562851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点星笔记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83080" y="4562851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大众点评点星笔记达人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23359" y="4562851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20位5星笔记达人，覆盖三大维度，15万曝光保底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41080" y="4562851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15万曝光·4.4+评分·TOP3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8600" y="5047482"/>
            <a:ext cx="14630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737360" y="5047482"/>
            <a:ext cx="219456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77639" y="5047482"/>
            <a:ext cx="457200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95360" y="5047482"/>
            <a:ext cx="3291840" cy="521207"/>
          </a:xfrm>
          <a:prstGeom prst="rect">
            <a:avLst/>
          </a:prstGeom>
          <a:solidFill>
            <a:srgbClr val="2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5102346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免费菜蓄水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83080" y="5102346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开业前评分预埋（免费菜）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59" y="5102346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提前激励真实用户评分，初始分保障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41080" y="5102346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上线初始分≥4.0，快速达标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5586977"/>
            <a:ext cx="14630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737360" y="5586977"/>
            <a:ext cx="219456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977639" y="5586977"/>
            <a:ext cx="457200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595360" y="5586977"/>
            <a:ext cx="3291840" cy="521207"/>
          </a:xfrm>
          <a:prstGeom prst="rect">
            <a:avLst/>
          </a:prstGeom>
          <a:solidFill>
            <a:srgbClr val="18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74320" y="5641841"/>
            <a:ext cx="13716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C9A84C"/>
                </a:solidFill>
              </a:rPr>
              <a:t>机动备用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5641841"/>
            <a:ext cx="210312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</a:rPr>
              <a:t>数据追投+突发素材补充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23359" y="5641841"/>
            <a:ext cx="448056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09070"/>
                </a:solidFill>
              </a:rPr>
              <a:t>根据前2周数据灵活追投爆款内容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41080" y="5641841"/>
            <a:ext cx="3200400" cy="429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</a:rPr>
              <a:t>弹性应对爆款内容追投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0120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1">
                <a:solidFill>
                  <a:srgbClr val="281406"/>
                </a:solidFill>
              </a:rPr>
              <a:t>成都弯道超车传媒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280160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C9A84C"/>
                </a:solidFill>
              </a:rPr>
              <a:t>PROPOSAL · 2026 · DALIAN FIRST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783080"/>
            <a:ext cx="12188952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i="0">
                <a:solidFill>
                  <a:srgbClr val="FDF6EC"/>
                </a:solidFill>
              </a:rPr>
              <a:t>繁花已备好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8895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 i="0">
                <a:solidFill>
                  <a:srgbClr val="E8C97A"/>
                </a:solidFill>
              </a:rPr>
              <a:t>只等一声确认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0857" y="3200400"/>
            <a:ext cx="3047238" cy="63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383280"/>
            <a:ext cx="8503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B09070"/>
                </a:solidFill>
              </a:rPr>
              <a:t>这份方案，是我们在合作正式开启之前，出于对「花腰鼓·繁花系列」品牌的判断与信心，
提前完成的一份诚意之作。每一个策略节点，都已为大连首店量身测算。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4343400"/>
            <a:ext cx="5394960" cy="868680"/>
          </a:xfrm>
          <a:prstGeom prst="rect">
            <a:avLst/>
          </a:prstGeom>
          <a:solidFill>
            <a:srgbClr val="2D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4407408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C9A84C"/>
                </a:solidFill>
              </a:rPr>
              <a:t>NEXT STEP · 期待下一步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68172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DF6EC"/>
                </a:solidFill>
              </a:rPr>
              <a:t>若方案方向与您的预期契合，期待尽快确认合作意向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486400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E8C97A"/>
                </a:solidFill>
              </a:rPr>
              <a:t>成都弯道超车传媒有限公司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833872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B09070"/>
                </a:solidFill>
              </a:rPr>
              <a:t>专项策划 / 抖音代运营 / 美团联动增长  ·  本提案文件仅供受邀方阅览，未经授权请勿转发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263640"/>
            <a:ext cx="12188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604020"/>
                </a:solidFill>
              </a:rPr>
              <a:t>FOR RECIPIENT ONLY · 仅供受邀方阅览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